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untain_bg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518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A0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dark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65760"/>
            <a:ext cx="2163097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786384"/>
            <a:ext cx="114144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7AA"/>
                </a:solidFill>
                <a:latin typeface="Albert Sans ExtraBold"/>
              </a:rPr>
              <a:t>EXECUTIVE BRANDING FOR ERP LEADERS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1060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FFFFFF"/>
                </a:solidFill>
                <a:latin typeface="Albert Sans ExtraBold"/>
              </a:rPr>
              <a:t>READY TO BUILD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A04DFF"/>
                </a:solidFill>
                <a:latin typeface="Albert Sans ExtraBold"/>
              </a:rPr>
              <a:t>YOUR LINKEDIN PRESENCE?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46120"/>
            <a:ext cx="8412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DD9DB"/>
                </a:solidFill>
                <a:latin typeface="Albert Sans"/>
              </a:rPr>
              <a:t>You've done the work. You've earned the authority.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DD9DB"/>
                </a:solidFill>
                <a:latin typeface="Albert Sans"/>
              </a:rPr>
              <a:t>The only thing missing is the visibility — and that's what we build, for you.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5806440"/>
            <a:ext cx="502920" cy="41148"/>
          </a:xfrm>
          <a:prstGeom prst="rect">
            <a:avLst/>
          </a:prstGeom>
          <a:solidFill>
            <a:srgbClr val="A0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9436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3A7AA"/>
                </a:solidFill>
                <a:latin typeface="Albert Sans"/>
              </a:rPr>
              <a:t>A Capability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untain_bg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518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dark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65760"/>
            <a:ext cx="1470906" cy="3108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896112"/>
            <a:ext cx="3840480" cy="310896"/>
          </a:xfrm>
          <a:prstGeom prst="rect">
            <a:avLst/>
          </a:prstGeom>
          <a:solidFill>
            <a:srgbClr val="A0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0" bIns="0"/>
          <a:lstStyle/>
          <a:p>
            <a:pPr algn="l"/>
            <a:r>
              <a:rPr sz="1100" b="0">
                <a:solidFill>
                  <a:srgbClr val="08282D"/>
                </a:solidFill>
                <a:latin typeface="Albert Sans ExtraBold"/>
              </a:rPr>
              <a:t>EXECUTIVE BRANDING, EXPLAINED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1858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FFFFFF"/>
                </a:solidFill>
                <a:latin typeface="Albert Sans ExtraBold"/>
              </a:rPr>
              <a:t>PEOPLE BUY FROM PEOPLE, </a:t>
            </a:r>
            <a:r>
              <a:rPr sz="2800" b="0" i="0">
                <a:solidFill>
                  <a:srgbClr val="C79BFF"/>
                </a:solidFill>
                <a:latin typeface="Albert Sans ExtraBold"/>
              </a:rPr>
              <a:t>NOT LOGOS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48840"/>
            <a:ext cx="5364327" cy="3794760"/>
          </a:xfrm>
          <a:prstGeom prst="rect">
            <a:avLst/>
          </a:prstGeom>
          <a:solidFill>
            <a:srgbClr val="0C2A30"/>
          </a:solidFill>
          <a:ln w="9525">
            <a:solidFill>
              <a:srgbClr val="22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423160"/>
            <a:ext cx="3291840" cy="310896"/>
          </a:xfrm>
          <a:prstGeom prst="rect">
            <a:avLst/>
          </a:prstGeom>
          <a:solidFill>
            <a:srgbClr val="A0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0" bIns="0"/>
          <a:lstStyle/>
          <a:p>
            <a:pPr algn="l"/>
            <a:r>
              <a:rPr sz="1100" b="0">
                <a:solidFill>
                  <a:srgbClr val="08282D"/>
                </a:solidFill>
                <a:latin typeface="Albert Sans ExtraBold"/>
              </a:rPr>
              <a:t>WHAT IS EXECUTIVE BRANDING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4815687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Albert Sans"/>
              </a:rPr>
              <a:t>Executive branding means building your personal, professional reputation as a leader — not just your company's.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600" b="0" i="0">
                <a:solidFill>
                  <a:srgbClr val="FFFFFF"/>
                </a:solidFill>
                <a:latin typeface="Albert Sans"/>
              </a:rPr>
              <a:t/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CDD9DB"/>
                </a:solidFill>
                <a:latin typeface="Albert Sans"/>
              </a:rPr>
              <a:t>It's done through consistent, credible content, mostly on LinkedIn, that shows your expertise and point of view in your own voice.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600" b="0" i="0">
                <a:solidFill>
                  <a:srgbClr val="FFFFFF"/>
                </a:solidFill>
                <a:latin typeface="Albert Sans"/>
              </a:rPr>
              <a:t/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CDD9DB"/>
                </a:solidFill>
                <a:latin typeface="Albert Sans"/>
              </a:rPr>
              <a:t>We write it, you approve it, and your name becomes something people recognise, trust, and follow.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24447" y="2148840"/>
            <a:ext cx="5364327" cy="3794760"/>
          </a:xfrm>
          <a:prstGeom prst="rect">
            <a:avLst/>
          </a:prstGeom>
          <a:solidFill>
            <a:srgbClr val="0C2A30"/>
          </a:solidFill>
          <a:ln w="9525">
            <a:solidFill>
              <a:srgbClr val="22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98767" y="2423160"/>
            <a:ext cx="2743200" cy="310896"/>
          </a:xfrm>
          <a:prstGeom prst="rect">
            <a:avLst/>
          </a:prstGeom>
          <a:solidFill>
            <a:srgbClr val="A0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0" bIns="0"/>
          <a:lstStyle/>
          <a:p>
            <a:pPr algn="l"/>
            <a:r>
              <a:rPr sz="1100" b="0">
                <a:solidFill>
                  <a:srgbClr val="08282D"/>
                </a:solidFill>
                <a:latin typeface="Albert Sans ExtraBold"/>
              </a:rPr>
              <a:t>WHAT'S IN IT FOR YOU</a:t>
            </a:r>
          </a:p>
        </p:txBody>
      </p:sp>
      <p:sp>
        <p:nvSpPr>
          <p:cNvPr id="12" name="Oval 11"/>
          <p:cNvSpPr/>
          <p:nvPr/>
        </p:nvSpPr>
        <p:spPr>
          <a:xfrm>
            <a:off x="6598767" y="3031236"/>
            <a:ext cx="82296" cy="82296"/>
          </a:xfrm>
          <a:prstGeom prst="ellipse">
            <a:avLst/>
          </a:prstGeom>
          <a:solidFill>
            <a:srgbClr val="A0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27367" y="2953512"/>
            <a:ext cx="45870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9DB"/>
                </a:solidFill>
                <a:latin typeface="Albert Sans"/>
              </a:rPr>
              <a:t>Become the name people think of first in your space</a:t>
            </a:r>
          </a:p>
        </p:txBody>
      </p:sp>
      <p:sp>
        <p:nvSpPr>
          <p:cNvPr id="14" name="Oval 13"/>
          <p:cNvSpPr/>
          <p:nvPr/>
        </p:nvSpPr>
        <p:spPr>
          <a:xfrm>
            <a:off x="6598767" y="3506724"/>
            <a:ext cx="82296" cy="82296"/>
          </a:xfrm>
          <a:prstGeom prst="ellipse">
            <a:avLst/>
          </a:prstGeom>
          <a:solidFill>
            <a:srgbClr val="A0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27367" y="3429000"/>
            <a:ext cx="45870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9DB"/>
                </a:solidFill>
                <a:latin typeface="Albert Sans"/>
              </a:rPr>
              <a:t>New business finds you — less chasing, more inbound</a:t>
            </a:r>
          </a:p>
        </p:txBody>
      </p:sp>
      <p:sp>
        <p:nvSpPr>
          <p:cNvPr id="16" name="Oval 15"/>
          <p:cNvSpPr/>
          <p:nvPr/>
        </p:nvSpPr>
        <p:spPr>
          <a:xfrm>
            <a:off x="6598767" y="3982212"/>
            <a:ext cx="82296" cy="82296"/>
          </a:xfrm>
          <a:prstGeom prst="ellipse">
            <a:avLst/>
          </a:prstGeom>
          <a:solidFill>
            <a:srgbClr val="A0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27367" y="3904488"/>
            <a:ext cx="45870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9DB"/>
                </a:solidFill>
                <a:latin typeface="Albert Sans"/>
              </a:rPr>
              <a:t>Build trust faster than a logo or website ever could</a:t>
            </a:r>
          </a:p>
        </p:txBody>
      </p:sp>
      <p:sp>
        <p:nvSpPr>
          <p:cNvPr id="18" name="Oval 17"/>
          <p:cNvSpPr/>
          <p:nvPr/>
        </p:nvSpPr>
        <p:spPr>
          <a:xfrm>
            <a:off x="6598767" y="4457700"/>
            <a:ext cx="82296" cy="82296"/>
          </a:xfrm>
          <a:prstGeom prst="ellipse">
            <a:avLst/>
          </a:prstGeom>
          <a:solidFill>
            <a:srgbClr val="A0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27367" y="4379976"/>
            <a:ext cx="45870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9DB"/>
                </a:solidFill>
                <a:latin typeface="Albert Sans"/>
              </a:rPr>
              <a:t>Get hours back every week — we write, you approve</a:t>
            </a:r>
          </a:p>
        </p:txBody>
      </p:sp>
      <p:sp>
        <p:nvSpPr>
          <p:cNvPr id="20" name="Oval 19"/>
          <p:cNvSpPr/>
          <p:nvPr/>
        </p:nvSpPr>
        <p:spPr>
          <a:xfrm>
            <a:off x="6598767" y="4933188"/>
            <a:ext cx="82296" cy="82296"/>
          </a:xfrm>
          <a:prstGeom prst="ellipse">
            <a:avLst/>
          </a:prstGeom>
          <a:solidFill>
            <a:srgbClr val="A0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27367" y="4855464"/>
            <a:ext cx="45870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9DB"/>
                </a:solidFill>
                <a:latin typeface="Albert Sans"/>
              </a:rPr>
              <a:t>Your expertise turned into content that works around the clock</a:t>
            </a:r>
          </a:p>
        </p:txBody>
      </p:sp>
      <p:sp>
        <p:nvSpPr>
          <p:cNvPr id="22" name="Oval 21"/>
          <p:cNvSpPr/>
          <p:nvPr/>
        </p:nvSpPr>
        <p:spPr>
          <a:xfrm>
            <a:off x="6598767" y="5408676"/>
            <a:ext cx="82296" cy="82296"/>
          </a:xfrm>
          <a:prstGeom prst="ellipse">
            <a:avLst/>
          </a:prstGeom>
          <a:solidFill>
            <a:srgbClr val="A0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27367" y="5330952"/>
            <a:ext cx="45870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9DB"/>
                </a:solidFill>
                <a:latin typeface="Albert Sans"/>
              </a:rPr>
              <a:t>Front-of-line exposure to our Humans of ERP audience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3A7AA"/>
                </a:solidFill>
                <a:latin typeface="Albert Sans ExtraBold"/>
              </a:rPr>
              <a:t>MAINTAIN MEDIA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52881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3A7AA"/>
                </a:solidFill>
                <a:latin typeface="Albert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untain_bg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518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dark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65760"/>
            <a:ext cx="1470906" cy="3108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896112"/>
            <a:ext cx="2011680" cy="310896"/>
          </a:xfrm>
          <a:prstGeom prst="rect">
            <a:avLst/>
          </a:prstGeom>
          <a:solidFill>
            <a:srgbClr val="A0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0" bIns="0"/>
          <a:lstStyle/>
          <a:p>
            <a:pPr algn="l"/>
            <a:r>
              <a:rPr sz="1100" b="0">
                <a:solidFill>
                  <a:srgbClr val="08282D"/>
                </a:solidFill>
                <a:latin typeface="Albert Sans ExtraBold"/>
              </a:rPr>
              <a:t>WHAT WE OFFER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1858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FFFFFF"/>
                </a:solidFill>
                <a:latin typeface="Albert Sans ExtraBold"/>
              </a:rPr>
              <a:t>YOUR REPUTATION, </a:t>
            </a:r>
            <a:r>
              <a:rPr sz="2800" b="0" i="0">
                <a:solidFill>
                  <a:srgbClr val="C79BFF"/>
                </a:solidFill>
                <a:latin typeface="Albert Sans ExtraBold"/>
              </a:rPr>
              <a:t>BUILT LIKE INFRASTRUCTURE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331720"/>
            <a:ext cx="2076236" cy="41148"/>
          </a:xfrm>
          <a:prstGeom prst="rect">
            <a:avLst/>
          </a:prstGeom>
          <a:solidFill>
            <a:srgbClr val="A0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331720"/>
            <a:ext cx="2076236" cy="2468880"/>
          </a:xfrm>
          <a:prstGeom prst="rect">
            <a:avLst/>
          </a:prstGeom>
          <a:solidFill>
            <a:srgbClr val="0C2A30"/>
          </a:solidFill>
          <a:ln w="9525">
            <a:solidFill>
              <a:srgbClr val="22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04088" y="2551176"/>
            <a:ext cx="292608" cy="292608"/>
          </a:xfrm>
          <a:prstGeom prst="ellipse">
            <a:avLst/>
          </a:prstGeom>
          <a:solidFill>
            <a:srgbClr val="A0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0">
                <a:solidFill>
                  <a:srgbClr val="FFFFFF"/>
                </a:solidFill>
                <a:latin typeface="Albert Sans ExtraBol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971800"/>
            <a:ext cx="16739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Albert Sans ExtraBold"/>
              </a:rPr>
              <a:t>LINKEDIN PROFILE OPTIMISATION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3685032"/>
            <a:ext cx="16739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9DB"/>
                </a:solidFill>
                <a:latin typeface="Albert Sans"/>
              </a:rPr>
              <a:t>Headline, banner, about and featured section — rebuilt so it works as hard as you do.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80324" y="2331720"/>
            <a:ext cx="2076236" cy="41148"/>
          </a:xfrm>
          <a:prstGeom prst="rect">
            <a:avLst/>
          </a:prstGeom>
          <a:solidFill>
            <a:srgbClr val="A0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80324" y="2331720"/>
            <a:ext cx="2076236" cy="2468880"/>
          </a:xfrm>
          <a:prstGeom prst="rect">
            <a:avLst/>
          </a:prstGeom>
          <a:solidFill>
            <a:srgbClr val="0C2A30"/>
          </a:solidFill>
          <a:ln w="9525">
            <a:solidFill>
              <a:srgbClr val="22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81492" y="2551176"/>
            <a:ext cx="292608" cy="292608"/>
          </a:xfrm>
          <a:prstGeom prst="ellipse">
            <a:avLst/>
          </a:prstGeom>
          <a:solidFill>
            <a:srgbClr val="A0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0">
                <a:solidFill>
                  <a:srgbClr val="FFFFFF"/>
                </a:solidFill>
                <a:latin typeface="Albert Sans ExtraBol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81492" y="2971800"/>
            <a:ext cx="16739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Albert Sans ExtraBold"/>
              </a:rPr>
              <a:t>BRANDED DISPLAY &amp; BANNER PHOTOS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81492" y="3685032"/>
            <a:ext cx="16739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9DB"/>
                </a:solidFill>
                <a:latin typeface="Albert Sans"/>
              </a:rPr>
              <a:t>On-brand photography and graphics for your profile, so first impressions land right.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57729" y="2331720"/>
            <a:ext cx="2076236" cy="41148"/>
          </a:xfrm>
          <a:prstGeom prst="rect">
            <a:avLst/>
          </a:prstGeom>
          <a:solidFill>
            <a:srgbClr val="A0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57729" y="2331720"/>
            <a:ext cx="2076236" cy="2468880"/>
          </a:xfrm>
          <a:prstGeom prst="rect">
            <a:avLst/>
          </a:prstGeom>
          <a:solidFill>
            <a:srgbClr val="0C2A30"/>
          </a:solidFill>
          <a:ln w="9525">
            <a:solidFill>
              <a:srgbClr val="22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258897" y="2551176"/>
            <a:ext cx="292608" cy="292608"/>
          </a:xfrm>
          <a:prstGeom prst="ellipse">
            <a:avLst/>
          </a:prstGeom>
          <a:solidFill>
            <a:srgbClr val="A0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0">
                <a:solidFill>
                  <a:srgbClr val="FFFFFF"/>
                </a:solidFill>
                <a:latin typeface="Albert Sans ExtraBold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8897" y="2971800"/>
            <a:ext cx="16739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Albert Sans ExtraBold"/>
              </a:rPr>
              <a:t>PERSONAL CONTENT CALENDAR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8897" y="3685032"/>
            <a:ext cx="16739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9DB"/>
                </a:solidFill>
                <a:latin typeface="Albert Sans"/>
              </a:rPr>
              <a:t>A planned run of content ahead of you — never guessing what to post next.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35133" y="2331720"/>
            <a:ext cx="2076236" cy="41148"/>
          </a:xfrm>
          <a:prstGeom prst="rect">
            <a:avLst/>
          </a:prstGeom>
          <a:solidFill>
            <a:srgbClr val="A0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35133" y="2331720"/>
            <a:ext cx="2076236" cy="2468880"/>
          </a:xfrm>
          <a:prstGeom prst="rect">
            <a:avLst/>
          </a:prstGeom>
          <a:solidFill>
            <a:srgbClr val="0C2A30"/>
          </a:solidFill>
          <a:ln w="9525">
            <a:solidFill>
              <a:srgbClr val="22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536301" y="2551176"/>
            <a:ext cx="292608" cy="292608"/>
          </a:xfrm>
          <a:prstGeom prst="ellipse">
            <a:avLst/>
          </a:prstGeom>
          <a:solidFill>
            <a:srgbClr val="A0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0">
                <a:solidFill>
                  <a:srgbClr val="FFFFFF"/>
                </a:solidFill>
                <a:latin typeface="Albert Sans ExtraBold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36301" y="2971800"/>
            <a:ext cx="16739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Albert Sans ExtraBold"/>
              </a:rPr>
              <a:t>CLAUDE SKILL OR CUSTOM GPT ON YOUR VOICE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36301" y="3685032"/>
            <a:ext cx="16739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9DB"/>
                </a:solidFill>
                <a:latin typeface="Albert Sans"/>
              </a:rPr>
              <a:t>An AI trained on how you write and think, so your voice stays consistent everywhere.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12538" y="2331720"/>
            <a:ext cx="2076236" cy="41148"/>
          </a:xfrm>
          <a:prstGeom prst="rect">
            <a:avLst/>
          </a:prstGeom>
          <a:solidFill>
            <a:srgbClr val="A0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12538" y="2331720"/>
            <a:ext cx="2076236" cy="2468880"/>
          </a:xfrm>
          <a:prstGeom prst="rect">
            <a:avLst/>
          </a:prstGeom>
          <a:solidFill>
            <a:srgbClr val="0C2A30"/>
          </a:solidFill>
          <a:ln w="9525">
            <a:solidFill>
              <a:srgbClr val="22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813706" y="2551176"/>
            <a:ext cx="292608" cy="292608"/>
          </a:xfrm>
          <a:prstGeom prst="ellipse">
            <a:avLst/>
          </a:prstGeom>
          <a:solidFill>
            <a:srgbClr val="A0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0">
                <a:solidFill>
                  <a:srgbClr val="FFFFFF"/>
                </a:solidFill>
                <a:latin typeface="Albert Sans ExtraBold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13706" y="2971800"/>
            <a:ext cx="16739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Albert Sans ExtraBold"/>
              </a:rPr>
              <a:t>INBOX MANAGEMENT (OPTIONAL)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13706" y="3685032"/>
            <a:ext cx="16739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9DB"/>
                </a:solidFill>
                <a:latin typeface="Albert Sans"/>
              </a:rPr>
              <a:t>Replies, DMs and engagement handled, so nothing falls through the cracks.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074920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93A7AA"/>
                </a:solidFill>
                <a:latin typeface="Albert Sans"/>
              </a:rPr>
              <a:t>Built around your voice, your brand, your time.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3A7AA"/>
                </a:solidFill>
                <a:latin typeface="Albert Sans ExtraBold"/>
              </a:rPr>
              <a:t>MAINTAIN MEDIA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94415" y="652881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3A7AA"/>
                </a:solidFill>
                <a:latin typeface="Albert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untain_bg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518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dark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65760"/>
            <a:ext cx="1470906" cy="3108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896112"/>
            <a:ext cx="1828800" cy="310896"/>
          </a:xfrm>
          <a:prstGeom prst="rect">
            <a:avLst/>
          </a:prstGeom>
          <a:solidFill>
            <a:srgbClr val="A0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0" bIns="0"/>
          <a:lstStyle/>
          <a:p>
            <a:pPr algn="l"/>
            <a:r>
              <a:rPr sz="1100" b="0">
                <a:solidFill>
                  <a:srgbClr val="08282D"/>
                </a:solidFill>
                <a:latin typeface="Albert Sans ExtraBold"/>
              </a:rPr>
              <a:t>WHO IS THIS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1858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FFFFFF"/>
                </a:solidFill>
                <a:latin typeface="Albert Sans ExtraBold"/>
              </a:rPr>
              <a:t>BUILT FOR THREE </a:t>
            </a:r>
            <a:r>
              <a:rPr sz="2800" b="0" i="0">
                <a:solidFill>
                  <a:srgbClr val="C79BFF"/>
                </a:solidFill>
                <a:latin typeface="Albert Sans ExtraBold"/>
              </a:rPr>
              <a:t>KINDS OF LEADERS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377440"/>
            <a:ext cx="3515258" cy="41148"/>
          </a:xfrm>
          <a:prstGeom prst="rect">
            <a:avLst/>
          </a:prstGeom>
          <a:solidFill>
            <a:srgbClr val="A0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377440"/>
            <a:ext cx="3515258" cy="3291840"/>
          </a:xfrm>
          <a:prstGeom prst="rect">
            <a:avLst/>
          </a:prstGeom>
          <a:solidFill>
            <a:srgbClr val="0C2A30"/>
          </a:solidFill>
          <a:ln w="9525">
            <a:solidFill>
              <a:srgbClr val="22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58952" y="2651760"/>
            <a:ext cx="347472" cy="347472"/>
          </a:xfrm>
          <a:prstGeom prst="ellipse">
            <a:avLst/>
          </a:prstGeom>
          <a:solidFill>
            <a:srgbClr val="A0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>
                <a:solidFill>
                  <a:srgbClr val="FFFFFF"/>
                </a:solidFill>
                <a:latin typeface="Albert Sans ExtraBol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200400"/>
            <a:ext cx="300319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Albert Sans ExtraBold"/>
              </a:rPr>
              <a:t>LITTLE TO NO PRESENCE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977640"/>
            <a:ext cx="3003194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9DB"/>
                </a:solidFill>
                <a:latin typeface="Albert Sans"/>
              </a:rPr>
              <a:t>Starting from zero — no profile, no content, no consistent voice. We build the whole engine from the ground up.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38218" y="2377440"/>
            <a:ext cx="3515258" cy="41148"/>
          </a:xfrm>
          <a:prstGeom prst="rect">
            <a:avLst/>
          </a:prstGeom>
          <a:solidFill>
            <a:srgbClr val="A0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8218" y="2377440"/>
            <a:ext cx="3515258" cy="3291840"/>
          </a:xfrm>
          <a:prstGeom prst="rect">
            <a:avLst/>
          </a:prstGeom>
          <a:solidFill>
            <a:srgbClr val="0C2A30"/>
          </a:solidFill>
          <a:ln w="9525">
            <a:solidFill>
              <a:srgbClr val="22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94250" y="2651760"/>
            <a:ext cx="347472" cy="347472"/>
          </a:xfrm>
          <a:prstGeom prst="ellipse">
            <a:avLst/>
          </a:prstGeom>
          <a:solidFill>
            <a:srgbClr val="A0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>
                <a:solidFill>
                  <a:srgbClr val="FFFFFF"/>
                </a:solidFill>
                <a:latin typeface="Albert Sans ExtraBol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4250" y="3200400"/>
            <a:ext cx="300319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Albert Sans ExtraBold"/>
              </a:rPr>
              <a:t>INDUSTRY &amp; SECTOR EXPERTS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4250" y="3977640"/>
            <a:ext cx="3003194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9DB"/>
                </a:solidFill>
                <a:latin typeface="Albert Sans"/>
              </a:rPr>
              <a:t>You've got the credibility and the war stories — you just haven't had time to put them in front of the right audience.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73516" y="2377440"/>
            <a:ext cx="3515258" cy="41148"/>
          </a:xfrm>
          <a:prstGeom prst="rect">
            <a:avLst/>
          </a:prstGeom>
          <a:solidFill>
            <a:srgbClr val="A0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73516" y="2377440"/>
            <a:ext cx="3515258" cy="3291840"/>
          </a:xfrm>
          <a:prstGeom prst="rect">
            <a:avLst/>
          </a:prstGeom>
          <a:solidFill>
            <a:srgbClr val="0C2A30"/>
          </a:solidFill>
          <a:ln w="9525">
            <a:solidFill>
              <a:srgbClr val="22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29548" y="2651760"/>
            <a:ext cx="347472" cy="347472"/>
          </a:xfrm>
          <a:prstGeom prst="ellipse">
            <a:avLst/>
          </a:prstGeom>
          <a:solidFill>
            <a:srgbClr val="A0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>
                <a:solidFill>
                  <a:srgbClr val="FFFFFF"/>
                </a:solidFill>
                <a:latin typeface="Albert Sans ExtraBold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9548" y="3200400"/>
            <a:ext cx="300319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Albert Sans ExtraBold"/>
              </a:rPr>
              <a:t>FOUNDERS &amp; BUSINESS OWNERS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29548" y="3977640"/>
            <a:ext cx="3003194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9DB"/>
                </a:solidFill>
                <a:latin typeface="Albert Sans"/>
              </a:rPr>
              <a:t>You're running the business. We become the person who tells your story, so you don't have to make time for 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3A7AA"/>
                </a:solidFill>
                <a:latin typeface="Albert Sans ExtraBold"/>
              </a:rPr>
              <a:t>MAINTAIN MEDIA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52881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3A7AA"/>
                </a:solidFill>
                <a:latin typeface="Albert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untain_bg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518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dark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65760"/>
            <a:ext cx="1470906" cy="3108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896112"/>
            <a:ext cx="2011680" cy="310896"/>
          </a:xfrm>
          <a:prstGeom prst="rect">
            <a:avLst/>
          </a:prstGeom>
          <a:solidFill>
            <a:srgbClr val="A0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0" bIns="0"/>
          <a:lstStyle/>
          <a:p>
            <a:pPr algn="l"/>
            <a:r>
              <a:rPr sz="1100" b="0">
                <a:solidFill>
                  <a:srgbClr val="08282D"/>
                </a:solidFill>
                <a:latin typeface="Albert Sans ExtraBold"/>
              </a:rPr>
              <a:t>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1858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FFFFFF"/>
                </a:solidFill>
                <a:latin typeface="Albert Sans ExtraBold"/>
              </a:rPr>
              <a:t>FIVE STEPS. </a:t>
            </a:r>
            <a:r>
              <a:rPr sz="2600" b="0" i="0">
                <a:solidFill>
                  <a:srgbClr val="C79BFF"/>
                </a:solidFill>
                <a:latin typeface="Albert Sans ExtraBold"/>
              </a:rPr>
              <a:t>YOUR FINAL SAY ON EVERY ONE.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331720"/>
            <a:ext cx="2076236" cy="41148"/>
          </a:xfrm>
          <a:prstGeom prst="rect">
            <a:avLst/>
          </a:prstGeom>
          <a:solidFill>
            <a:srgbClr val="A0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331720"/>
            <a:ext cx="2076236" cy="2286000"/>
          </a:xfrm>
          <a:prstGeom prst="rect">
            <a:avLst/>
          </a:prstGeom>
          <a:solidFill>
            <a:srgbClr val="0C2A30"/>
          </a:solidFill>
          <a:ln w="9525">
            <a:solidFill>
              <a:srgbClr val="22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04088" y="2551176"/>
            <a:ext cx="292608" cy="292608"/>
          </a:xfrm>
          <a:prstGeom prst="ellipse">
            <a:avLst/>
          </a:prstGeom>
          <a:solidFill>
            <a:srgbClr val="A0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0">
                <a:solidFill>
                  <a:srgbClr val="FFFFFF"/>
                </a:solidFill>
                <a:latin typeface="Albert Sans ExtraBol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971800"/>
            <a:ext cx="16739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Albert Sans ExtraBold"/>
              </a:rPr>
              <a:t>VOICE CAPTURE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3685032"/>
            <a:ext cx="16739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DD9DB"/>
                </a:solidFill>
                <a:latin typeface="Albert Sans"/>
              </a:rPr>
              <a:t>Questionnaire, codified into your voice profile.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80324" y="2331720"/>
            <a:ext cx="2076236" cy="41148"/>
          </a:xfrm>
          <a:prstGeom prst="rect">
            <a:avLst/>
          </a:prstGeom>
          <a:solidFill>
            <a:srgbClr val="A0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80324" y="2331720"/>
            <a:ext cx="2076236" cy="2286000"/>
          </a:xfrm>
          <a:prstGeom prst="rect">
            <a:avLst/>
          </a:prstGeom>
          <a:solidFill>
            <a:srgbClr val="0C2A30"/>
          </a:solidFill>
          <a:ln w="9525">
            <a:solidFill>
              <a:srgbClr val="22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81492" y="2551176"/>
            <a:ext cx="292608" cy="292608"/>
          </a:xfrm>
          <a:prstGeom prst="ellipse">
            <a:avLst/>
          </a:prstGeom>
          <a:solidFill>
            <a:srgbClr val="A0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0">
                <a:solidFill>
                  <a:srgbClr val="FFFFFF"/>
                </a:solidFill>
                <a:latin typeface="Albert Sans ExtraBol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81492" y="2971800"/>
            <a:ext cx="16739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Albert Sans ExtraBold"/>
              </a:rPr>
              <a:t>CONTENT OS 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81492" y="3685032"/>
            <a:ext cx="16739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DD9DB"/>
                </a:solidFill>
                <a:latin typeface="Albert Sans"/>
              </a:rPr>
              <a:t>Your personal writing engine, calibrated until drafts pass your blind test.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57729" y="2331720"/>
            <a:ext cx="2076236" cy="41148"/>
          </a:xfrm>
          <a:prstGeom prst="rect">
            <a:avLst/>
          </a:prstGeom>
          <a:solidFill>
            <a:srgbClr val="A0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57729" y="2331720"/>
            <a:ext cx="2076236" cy="2286000"/>
          </a:xfrm>
          <a:prstGeom prst="rect">
            <a:avLst/>
          </a:prstGeom>
          <a:solidFill>
            <a:srgbClr val="0C2A30"/>
          </a:solidFill>
          <a:ln w="9525">
            <a:solidFill>
              <a:srgbClr val="22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258897" y="2551176"/>
            <a:ext cx="292608" cy="292608"/>
          </a:xfrm>
          <a:prstGeom prst="ellipse">
            <a:avLst/>
          </a:prstGeom>
          <a:solidFill>
            <a:srgbClr val="A0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0">
                <a:solidFill>
                  <a:srgbClr val="FFFFFF"/>
                </a:solidFill>
                <a:latin typeface="Albert Sans ExtraBold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8897" y="2971800"/>
            <a:ext cx="16739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Albert Sans ExtraBold"/>
              </a:rPr>
              <a:t>PROFILE OVERHAUL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8897" y="3685032"/>
            <a:ext cx="16739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DD9DB"/>
                </a:solidFill>
                <a:latin typeface="Albert Sans"/>
              </a:rPr>
              <a:t>Shipped in week one — the change is visible immediately.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35133" y="2331720"/>
            <a:ext cx="2076236" cy="41148"/>
          </a:xfrm>
          <a:prstGeom prst="rect">
            <a:avLst/>
          </a:prstGeom>
          <a:solidFill>
            <a:srgbClr val="A0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35133" y="2331720"/>
            <a:ext cx="2076236" cy="2286000"/>
          </a:xfrm>
          <a:prstGeom prst="rect">
            <a:avLst/>
          </a:prstGeom>
          <a:solidFill>
            <a:srgbClr val="0C2A30"/>
          </a:solidFill>
          <a:ln w="9525">
            <a:solidFill>
              <a:srgbClr val="22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536301" y="2551176"/>
            <a:ext cx="292608" cy="292608"/>
          </a:xfrm>
          <a:prstGeom prst="ellipse">
            <a:avLst/>
          </a:prstGeom>
          <a:solidFill>
            <a:srgbClr val="A0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0">
                <a:solidFill>
                  <a:srgbClr val="FFFFFF"/>
                </a:solidFill>
                <a:latin typeface="Albert Sans ExtraBold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36301" y="2971800"/>
            <a:ext cx="16739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Albert Sans ExtraBold"/>
              </a:rPr>
              <a:t>WEEKLY ENGINE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36301" y="3685032"/>
            <a:ext cx="16739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DD9DB"/>
                </a:solidFill>
                <a:latin typeface="Albert Sans"/>
              </a:rPr>
              <a:t>Calendar, then approve in minutes — we publish and handle engagement.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12538" y="2331720"/>
            <a:ext cx="2076236" cy="41148"/>
          </a:xfrm>
          <a:prstGeom prst="rect">
            <a:avLst/>
          </a:prstGeom>
          <a:solidFill>
            <a:srgbClr val="A0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12538" y="2331720"/>
            <a:ext cx="2076236" cy="2286000"/>
          </a:xfrm>
          <a:prstGeom prst="rect">
            <a:avLst/>
          </a:prstGeom>
          <a:solidFill>
            <a:srgbClr val="0C2A30"/>
          </a:solidFill>
          <a:ln w="9525">
            <a:solidFill>
              <a:srgbClr val="22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813706" y="2551176"/>
            <a:ext cx="292608" cy="292608"/>
          </a:xfrm>
          <a:prstGeom prst="ellipse">
            <a:avLst/>
          </a:prstGeom>
          <a:solidFill>
            <a:srgbClr val="A0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0">
                <a:solidFill>
                  <a:srgbClr val="FFFFFF"/>
                </a:solidFill>
                <a:latin typeface="Albert Sans ExtraBold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13706" y="2971800"/>
            <a:ext cx="16739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Albert Sans ExtraBold"/>
              </a:rPr>
              <a:t>MONTHLY SCORECARD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13706" y="3685032"/>
            <a:ext cx="16739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DD9DB"/>
                </a:solidFill>
                <a:latin typeface="Albert Sans"/>
              </a:rPr>
              <a:t>Reach, engagement quality, growth and inbound signals, reported back.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4892040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93A7AA"/>
                </a:solidFill>
                <a:latin typeface="Albert Sans"/>
              </a:rPr>
              <a:t>Your name, your voice, your final say — nothing publishes without your approval.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3A7AA"/>
                </a:solidFill>
                <a:latin typeface="Albert Sans ExtraBold"/>
              </a:rPr>
              <a:t>MAINTAIN MEDIA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94415" y="652881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3A7AA"/>
                </a:solidFill>
                <a:latin typeface="Albert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untain_bg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518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dark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65760"/>
            <a:ext cx="1470906" cy="3108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896112"/>
            <a:ext cx="2743200" cy="310896"/>
          </a:xfrm>
          <a:prstGeom prst="rect">
            <a:avLst/>
          </a:prstGeom>
          <a:solidFill>
            <a:srgbClr val="A0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0" bIns="0"/>
          <a:lstStyle/>
          <a:p>
            <a:pPr algn="l"/>
            <a:r>
              <a:rPr sz="1100" b="0">
                <a:solidFill>
                  <a:srgbClr val="08282D"/>
                </a:solidFill>
                <a:latin typeface="Albert Sans ExtraBold"/>
              </a:rPr>
              <a:t>SERVICES &amp; PACKAGES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1858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FFFFFF"/>
                </a:solidFill>
                <a:latin typeface="Albert Sans ExtraBold"/>
              </a:rPr>
              <a:t>START SIMPLE. </a:t>
            </a:r>
            <a:r>
              <a:rPr sz="2600" b="0" i="0">
                <a:solidFill>
                  <a:srgbClr val="C79BFF"/>
                </a:solidFill>
                <a:latin typeface="Albert Sans ExtraBold"/>
              </a:rPr>
              <a:t>ADD EXTRAS AS YOU GO.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331720"/>
            <a:ext cx="3515258" cy="45720"/>
          </a:xfrm>
          <a:prstGeom prst="rect">
            <a:avLst/>
          </a:prstGeom>
          <a:solidFill>
            <a:srgbClr val="A0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331720"/>
            <a:ext cx="3515258" cy="3200400"/>
          </a:xfrm>
          <a:prstGeom prst="rect">
            <a:avLst/>
          </a:prstGeom>
          <a:solidFill>
            <a:srgbClr val="0C2A30"/>
          </a:solidFill>
          <a:ln w="9525">
            <a:solidFill>
              <a:srgbClr val="22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606040"/>
            <a:ext cx="300319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lbert Sans ExtraBold"/>
              </a:rPr>
              <a:t>SETUP (ONE-OFF)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108960"/>
            <a:ext cx="300319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9DB"/>
                </a:solidFill>
                <a:latin typeface="Albert Sans"/>
              </a:rPr>
              <a:t>Onboarding, brand voice discovery, LinkedIn profile audit and optimisation, content calendar, Claude skill or custom GPT trained on your voice.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5029200"/>
            <a:ext cx="300319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79BFF"/>
                </a:solidFill>
                <a:latin typeface="Albert Sans ExtraBold"/>
              </a:rPr>
              <a:t>Starts at AU$400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38218" y="2331720"/>
            <a:ext cx="3515258" cy="45720"/>
          </a:xfrm>
          <a:prstGeom prst="rect">
            <a:avLst/>
          </a:prstGeom>
          <a:solidFill>
            <a:srgbClr val="A0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8218" y="2331720"/>
            <a:ext cx="3515258" cy="3200400"/>
          </a:xfrm>
          <a:prstGeom prst="rect">
            <a:avLst/>
          </a:prstGeom>
          <a:solidFill>
            <a:srgbClr val="0C2A30"/>
          </a:solidFill>
          <a:ln w="9525">
            <a:solidFill>
              <a:srgbClr val="22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4250" y="2606040"/>
            <a:ext cx="300319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lbert Sans ExtraBold"/>
              </a:rPr>
              <a:t>MONTHLY RETAINER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4250" y="3108960"/>
            <a:ext cx="300319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9DB"/>
                </a:solidFill>
                <a:latin typeface="Albert Sans"/>
              </a:rPr>
              <a:t>Ongoing LinkedIn ghostwriting, content calendar, reply and engagement management, monthly reporting.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4250" y="5029200"/>
            <a:ext cx="300319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79BFF"/>
                </a:solidFill>
                <a:latin typeface="Albert Sans ExtraBold"/>
              </a:rPr>
              <a:t>Starts at AU$1,000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73516" y="2331720"/>
            <a:ext cx="3515258" cy="45720"/>
          </a:xfrm>
          <a:prstGeom prst="rect">
            <a:avLst/>
          </a:prstGeom>
          <a:solidFill>
            <a:srgbClr val="A0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73516" y="2331720"/>
            <a:ext cx="3515258" cy="3200400"/>
          </a:xfrm>
          <a:prstGeom prst="rect">
            <a:avLst/>
          </a:prstGeom>
          <a:solidFill>
            <a:srgbClr val="0C2A30"/>
          </a:solidFill>
          <a:ln w="9525">
            <a:solidFill>
              <a:srgbClr val="22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29548" y="2606040"/>
            <a:ext cx="300319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lbert Sans ExtraBold"/>
              </a:rPr>
              <a:t>ADD-ONS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9548" y="3108960"/>
            <a:ext cx="300319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9DB"/>
                </a:solidFill>
                <a:latin typeface="Albert Sans"/>
              </a:rPr>
              <a:t>Layer these in once the engine is running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29548" y="3749040"/>
            <a:ext cx="300319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79BFF"/>
                </a:solidFill>
                <a:latin typeface="Albert Sans ExtraBold"/>
              </a:rPr>
              <a:t>—  </a:t>
            </a:r>
            <a:r>
              <a:rPr sz="1100" b="0" i="0">
                <a:solidFill>
                  <a:srgbClr val="CDD9DB"/>
                </a:solidFill>
                <a:latin typeface="Albert Sans"/>
              </a:rPr>
              <a:t>LinkedIn newsletter, written for you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9548" y="4078224"/>
            <a:ext cx="300319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79BFF"/>
                </a:solidFill>
                <a:latin typeface="Albert Sans ExtraBold"/>
              </a:rPr>
              <a:t>—  </a:t>
            </a:r>
            <a:r>
              <a:rPr sz="1100" b="0" i="0">
                <a:solidFill>
                  <a:srgbClr val="CDD9DB"/>
                </a:solidFill>
                <a:latin typeface="Albert Sans"/>
              </a:rPr>
              <a:t>Website development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9548" y="4407408"/>
            <a:ext cx="300319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79BFF"/>
                </a:solidFill>
                <a:latin typeface="Albert Sans ExtraBold"/>
              </a:rPr>
              <a:t>—  </a:t>
            </a:r>
            <a:r>
              <a:rPr sz="1100" b="0" i="0">
                <a:solidFill>
                  <a:srgbClr val="CDD9DB"/>
                </a:solidFill>
                <a:latin typeface="Albert Sans"/>
              </a:rPr>
              <a:t>Appointment setting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29548" y="4736592"/>
            <a:ext cx="300319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79BFF"/>
                </a:solidFill>
                <a:latin typeface="Albert Sans ExtraBold"/>
              </a:rPr>
              <a:t>—  </a:t>
            </a:r>
            <a:r>
              <a:rPr sz="1100" b="0" i="0">
                <a:solidFill>
                  <a:srgbClr val="CDD9DB"/>
                </a:solidFill>
                <a:latin typeface="Albert Sans"/>
              </a:rPr>
              <a:t>Paid advertising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9548" y="5029200"/>
            <a:ext cx="300319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79BFF"/>
                </a:solidFill>
                <a:latin typeface="Albert Sans ExtraBold"/>
              </a:rPr>
              <a:t>Custom quote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3A7AA"/>
                </a:solidFill>
                <a:latin typeface="Albert Sans ExtraBold"/>
              </a:rPr>
              <a:t>MAINTAIN MEDIA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94415" y="652881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3A7AA"/>
                </a:solidFill>
                <a:latin typeface="Albert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untain_bg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518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dark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65760"/>
            <a:ext cx="1470906" cy="3108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896112"/>
            <a:ext cx="1828800" cy="310896"/>
          </a:xfrm>
          <a:prstGeom prst="rect">
            <a:avLst/>
          </a:prstGeom>
          <a:solidFill>
            <a:srgbClr val="A0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0" bIns="0"/>
          <a:lstStyle/>
          <a:p>
            <a:pPr algn="l"/>
            <a:r>
              <a:rPr sz="1100" b="0">
                <a:solidFill>
                  <a:srgbClr val="08282D"/>
                </a:solidFill>
                <a:latin typeface="Albert Sans ExtraBold"/>
              </a:rPr>
              <a:t>INTRO OFFER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1858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FFFFFF"/>
                </a:solidFill>
                <a:latin typeface="Albert Sans ExtraBold"/>
              </a:rPr>
              <a:t>SEE THE QUALITY </a:t>
            </a:r>
            <a:r>
              <a:rPr sz="2600" b="0" i="0">
                <a:solidFill>
                  <a:srgbClr val="C79BFF"/>
                </a:solidFill>
                <a:latin typeface="Albert Sans ExtraBold"/>
              </a:rPr>
              <a:t>BEFORE YOU COMMIT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377440"/>
            <a:ext cx="6035040" cy="3840480"/>
          </a:xfrm>
          <a:prstGeom prst="rect">
            <a:avLst/>
          </a:prstGeom>
          <a:solidFill>
            <a:srgbClr val="123A42"/>
          </a:solidFill>
          <a:ln w="15875">
            <a:solidFill>
              <a:srgbClr val="A0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5394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Albert Sans ExtraBold"/>
              </a:rPr>
              <a:t>FREE FEATURE ON </a:t>
            </a:r>
            <a:r>
              <a:rPr sz="1800" b="0" i="0">
                <a:solidFill>
                  <a:srgbClr val="C79BFF"/>
                </a:solidFill>
                <a:latin typeface="Albert Sans ExtraBold"/>
              </a:rPr>
              <a:t>Humans of ERP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29000"/>
            <a:ext cx="53949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DD9DB"/>
                </a:solidFill>
                <a:latin typeface="Albert Sans"/>
              </a:rPr>
              <a:t>A free editorial or opinion piece — or a free feature story — written for you and published on Humans of ERP, so you can see the quality and the exposure before you commit to anything.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57784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93A7AA"/>
                </a:solidFill>
                <a:latin typeface="Albert Sans"/>
              </a:rPr>
              <a:t>Offer valid for the first five founding clients.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2377440"/>
            <a:ext cx="4693615" cy="3840480"/>
          </a:xfrm>
          <a:prstGeom prst="rect">
            <a:avLst/>
          </a:prstGeom>
          <a:solidFill>
            <a:srgbClr val="0C2A30"/>
          </a:solidFill>
          <a:ln w="12700">
            <a:solidFill>
              <a:srgbClr val="A04DF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1100" i="1">
                <a:solidFill>
                  <a:srgbClr val="C79BFF"/>
                </a:solidFill>
                <a:latin typeface="Albert Sans"/>
              </a:rPr>
              <a:t>Screenshot placeholder
Humans of ERP homepage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3A7AA"/>
                </a:solidFill>
                <a:latin typeface="Albert Sans ExtraBold"/>
              </a:rPr>
              <a:t>MAINTAIN MEDIA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52881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3A7AA"/>
                </a:solidFill>
                <a:latin typeface="Albert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untain_bg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518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dark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65760"/>
            <a:ext cx="1470906" cy="3108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896112"/>
            <a:ext cx="1828800" cy="310896"/>
          </a:xfrm>
          <a:prstGeom prst="rect">
            <a:avLst/>
          </a:prstGeom>
          <a:solidFill>
            <a:srgbClr val="A0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0" bIns="0"/>
          <a:lstStyle/>
          <a:p>
            <a:pPr algn="l"/>
            <a:r>
              <a:rPr sz="1100" b="0">
                <a:solidFill>
                  <a:srgbClr val="08282D"/>
                </a:solidFill>
                <a:latin typeface="Albert Sans ExtraBold"/>
              </a:rPr>
              <a:t>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1858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FFFFFF"/>
                </a:solidFill>
                <a:latin typeface="Albert Sans ExtraBold"/>
              </a:rPr>
              <a:t>THE PROOF — </a:t>
            </a:r>
            <a:r>
              <a:rPr sz="2600" b="0" i="0">
                <a:solidFill>
                  <a:srgbClr val="C79BFF"/>
                </a:solidFill>
                <a:latin typeface="Albert Sans ExtraBold"/>
              </a:rPr>
              <a:t>JON PEPPER'S OWN ENGINE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423160"/>
            <a:ext cx="11185855" cy="3657600"/>
          </a:xfrm>
          <a:prstGeom prst="rect">
            <a:avLst/>
          </a:prstGeom>
          <a:solidFill>
            <a:srgbClr val="0C2A30"/>
          </a:solidFill>
          <a:ln w="9525">
            <a:solidFill>
              <a:srgbClr val="22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743200"/>
            <a:ext cx="2651760" cy="3017520"/>
          </a:xfrm>
          <a:prstGeom prst="rect">
            <a:avLst/>
          </a:prstGeom>
          <a:solidFill>
            <a:srgbClr val="08282D"/>
          </a:solidFill>
          <a:ln w="12700">
            <a:solidFill>
              <a:srgbClr val="A04DF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050" i="1">
                <a:solidFill>
                  <a:srgbClr val="C79BFF"/>
                </a:solidFill>
                <a:latin typeface="Albert Sans"/>
              </a:rPr>
              <a:t>Screenshot placeholder
Jon Pepper LinkedIn profile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743200"/>
            <a:ext cx="74368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lbert Sans ExtraBold"/>
              </a:rPr>
              <a:t>JON PEPPER — FOUNDER, MAINTAIN TECHNOLOGY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337560"/>
            <a:ext cx="3489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C79BFF"/>
                </a:solidFill>
                <a:latin typeface="Albert Sans ExtraBold"/>
              </a:rPr>
              <a:t>172K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3739896"/>
            <a:ext cx="344408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DD9DB"/>
                </a:solidFill>
                <a:latin typeface="Albert Sans"/>
              </a:rPr>
              <a:t>Impressions in 12 months — all organic, zero ad spend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50327" y="3337560"/>
            <a:ext cx="3489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C79BFF"/>
                </a:solidFill>
                <a:latin typeface="Albert Sans ExtraBold"/>
              </a:rPr>
              <a:t>213×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50327" y="3739896"/>
            <a:ext cx="344408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DD9DB"/>
                </a:solidFill>
                <a:latin typeface="Albert Sans"/>
              </a:rPr>
              <a:t>Reach multiplier — featured voices reshare, their networks follow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4526280"/>
            <a:ext cx="3489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C79BFF"/>
                </a:solidFill>
                <a:latin typeface="Albert Sans ExtraBold"/>
              </a:rPr>
              <a:t>9–16%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4928616"/>
            <a:ext cx="344408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DD9DB"/>
                </a:solidFill>
                <a:latin typeface="Albert Sans"/>
              </a:rPr>
              <a:t>Engagement rate — recent posts at the top of that band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50327" y="4526280"/>
            <a:ext cx="3489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C79BFF"/>
                </a:solidFill>
                <a:latin typeface="Albert Sans ExtraBold"/>
              </a:rPr>
              <a:t>+29.6%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50327" y="4928616"/>
            <a:ext cx="344408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DD9DB"/>
                </a:solidFill>
                <a:latin typeface="Albert Sans"/>
              </a:rPr>
              <a:t>Follower growth in the last 30 days alone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5303520"/>
            <a:ext cx="74368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93A7AA"/>
                </a:solidFill>
                <a:latin typeface="Albert Sans"/>
              </a:rPr>
              <a:t>This is the engine behind Jon Pepper's LinkedIn and Humans of ERP — the same system built for you.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3A7AA"/>
                </a:solidFill>
                <a:latin typeface="Albert Sans ExtraBold"/>
              </a:rPr>
              <a:t>MAINTAIN MEDIA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52881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3A7AA"/>
                </a:solidFill>
                <a:latin typeface="Albert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untain_bg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518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dark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65760"/>
            <a:ext cx="1817001" cy="384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155448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FFFFFF"/>
                </a:solidFill>
                <a:latin typeface="Albert Sans ExtraBold"/>
              </a:rPr>
              <a:t>YOUR REPUTATION IS AN ASSET.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C79BFF"/>
                </a:solidFill>
                <a:latin typeface="Albert Sans ExtraBold"/>
              </a:rPr>
              <a:t>LET'S BUILD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46120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DD9DB"/>
                </a:solidFill>
                <a:latin typeface="Albert Sans"/>
              </a:rPr>
              <a:t>Executive branding turns your expertise into visibility — so the ERP and enterprise tech world knows your name, trusts your judgement, and comes to you first.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4343400"/>
            <a:ext cx="2011680" cy="530352"/>
          </a:xfrm>
          <a:prstGeom prst="rect">
            <a:avLst/>
          </a:prstGeom>
          <a:solidFill>
            <a:srgbClr val="A0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  <a:latin typeface="Albert Sans ExtraBold"/>
              </a:rPr>
              <a:t>GET A QUOTE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1206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3A7AA"/>
                </a:solidFill>
                <a:latin typeface="Albert Sans"/>
              </a:rPr>
              <a:t>Maintain Media — a Sub-brand of Maintain Technology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